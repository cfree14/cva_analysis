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1918"/>
  </p:normalViewPr>
  <p:slideViewPr>
    <p:cSldViewPr snapToGrid="0">
      <p:cViewPr varScale="1">
        <p:scale>
          <a:sx n="119" d="100"/>
          <a:sy n="119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focus on validation: how CVA scores correspond to distribution and productivity responses in the current matched datasets.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validation asks whether classifications designed by expert</a:t>
            </a:r>
            <a:r>
              <a:rPr lang="en-US" altLang="zh-CN"/>
              <a:t>s</a:t>
            </a:r>
            <a:r>
              <a:t> correspond to </a:t>
            </a:r>
            <a:r>
              <a:rPr lang="en-US" altLang="zh-CN"/>
              <a:t>empirical</a:t>
            </a:r>
            <a:r>
              <a:t> response. </a:t>
            </a:r>
            <a:endParaRPr lang="en-US"/>
          </a:p>
          <a:p>
            <a:r>
              <a:t>Potential for distribution change derives from four sensitivity attributes: temperature sensitivity, adult mobility, early life dispersal, and habitat specificity. </a:t>
            </a:r>
            <a:endParaRPr lang="en-US"/>
          </a:p>
          <a:p>
            <a:r>
              <a:t>We compare that classification with observed and projected spatial responses. </a:t>
            </a:r>
            <a:endParaRPr lang="en-US"/>
          </a:p>
          <a:p>
            <a:r>
              <a:t>Absolute theta evaluates the magnitude of warming sensitivity, absolute MSY change evaluates the magnitude of the productivity response. </a:t>
            </a:r>
            <a:endParaRPr lang="en-US"/>
          </a:p>
          <a:p>
            <a:r>
              <a:t>Signed analyses retain beneficial and adverse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analyses cover five current CVA regions. </a:t>
            </a:r>
            <a:endParaRPr lang="en-US"/>
          </a:p>
          <a:p>
            <a:r>
              <a:t>Historical latitude and depth responses share 194 records. </a:t>
            </a:r>
            <a:endParaRPr lang="en-US"/>
          </a:p>
          <a:p>
            <a:r>
              <a:t>The projected centroid and habitat analyses use 110 matched Morley records. </a:t>
            </a:r>
            <a:endParaRPr lang="en-US"/>
          </a:p>
          <a:p>
            <a:r>
              <a:t>Productivity analyses use 62 assessed stocks, </a:t>
            </a:r>
            <a:endParaRPr lang="en-US"/>
          </a:p>
          <a:p>
            <a:r>
              <a:t>and the direction analysis retains 60 because two Bering Sea stocks lack a CVA direction score.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main continuous association results use linear models with region fixed effects.</a:t>
            </a:r>
            <a:endParaRPr lang="en-US"/>
          </a:p>
          <a:p>
            <a:r>
              <a:t>We standardize each predictor within its complete</a:t>
            </a:r>
            <a:r>
              <a:rPr lang="zh-CN" altLang="en-US"/>
              <a:t> </a:t>
            </a:r>
            <a:r>
              <a:t>case dataset.</a:t>
            </a:r>
            <a:endParaRPr lang="en-US"/>
          </a:p>
          <a:p>
            <a:r>
              <a:t>Latitude and centroid shifts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habitat models </a:t>
            </a:r>
            <a:r>
              <a:t>use log </a:t>
            </a:r>
            <a:r>
              <a:rPr lang="en-US"/>
              <a:t>transformation</a:t>
            </a:r>
            <a:r>
              <a:rPr lang="en-US" altLang="zh-CN"/>
              <a:t>.</a:t>
            </a:r>
            <a:r>
              <a:t> </a:t>
            </a:r>
            <a:endParaRPr lang="en-US"/>
          </a:p>
          <a:p>
            <a:r>
              <a:t>We apply BH correction separately within endpoint and predictor family.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potential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distribution</a:t>
            </a:r>
            <a:r>
              <a:rPr lang="zh-CN" altLang="en-US"/>
              <a:t> </a:t>
            </a:r>
            <a:r>
              <a:rPr lang="en-US" altLang="zh-CN"/>
              <a:t>change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matched</a:t>
            </a:r>
            <a:r>
              <a:rPr lang="zh-CN" altLang="en-US"/>
              <a:t> </a:t>
            </a:r>
            <a:r>
              <a:rPr lang="en-US" altLang="zh-CN"/>
              <a:t>records</a:t>
            </a:r>
            <a:r>
              <a:t>. </a:t>
            </a:r>
            <a:endParaRPr lang="en-US"/>
          </a:p>
          <a:p>
            <a:r>
              <a:t>Historical latitude </a:t>
            </a:r>
            <a:r>
              <a:rPr lang="en-US" altLang="zh-CN"/>
              <a:t>was</a:t>
            </a:r>
            <a:r>
              <a:rPr lang="zh-CN" altLang="en-US"/>
              <a:t> </a:t>
            </a:r>
            <a:r>
              <a:rPr lang="en-US" altLang="zh-CN"/>
              <a:t>converted</a:t>
            </a:r>
            <a:r>
              <a:rPr lang="zh-CN" altLang="en-US"/>
              <a:t> </a:t>
            </a:r>
            <a:r>
              <a:rPr lang="en-US" altLang="zh-CN"/>
              <a:t>from degrees to kilometers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making comparison easier</a:t>
            </a:r>
            <a:r>
              <a:t>..</a:t>
            </a:r>
            <a:endParaRPr lang="en-US"/>
          </a:p>
          <a:p>
            <a:r>
              <a:t>The distributions overlap across CVA categories and the categories cover only a limited range in some regions. </a:t>
            </a:r>
            <a:endParaRPr lang="en-US"/>
          </a:p>
          <a:p>
            <a:r>
              <a:t>Within</a:t>
            </a:r>
            <a:r>
              <a:rPr lang="zh-CN" altLang="en-US"/>
              <a:t> </a:t>
            </a:r>
            <a:r>
              <a:t>region Spearman tests detect no association.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comparison isolate the potential score and the four attributes used to derive it. </a:t>
            </a:r>
            <a:endParaRPr lang="en-US"/>
          </a:p>
          <a:p>
            <a:r>
              <a:t>The aggregate potential score shows little correspondence with either endpoint. </a:t>
            </a:r>
            <a:endParaRPr lang="en-US"/>
          </a:p>
          <a:p>
            <a:r>
              <a:t>Early life dispersal has a nominal positive historical association and adult mobility a nominal negative one. </a:t>
            </a:r>
            <a:endParaRPr lang="en-US"/>
          </a:p>
          <a:p>
            <a:r>
              <a:rPr lang="en-US" altLang="zh-CN"/>
              <a:t>ALL</a:t>
            </a:r>
            <a:r>
              <a:rPr lang="zh-CN" altLang="en-US"/>
              <a:t> </a:t>
            </a:r>
            <a:r>
              <a:t>the twelve sensitivity attributes q </a:t>
            </a:r>
            <a:r>
              <a:rPr lang="en-US" altLang="zh-CN"/>
              <a:t>value</a:t>
            </a:r>
            <a:r>
              <a:rPr lang="zh-CN" altLang="en-US"/>
              <a:t> </a:t>
            </a:r>
            <a:r>
              <a:rPr lang="en-US" altLang="zh-CN"/>
              <a:t>above</a:t>
            </a:r>
            <a:r>
              <a:t> 0.05.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Aggregate exposure has the clearest historical association: </a:t>
            </a:r>
            <a:endParaRPr lang="en-US"/>
          </a:p>
          <a:p>
            <a:r>
              <a:rPr lang="en-US" altLang="zh-CN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Historical exposure, salinity and air temperature</a:t>
            </a:r>
            <a:r>
              <a:rPr lang="zh-CN" altLang="en-US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meet</a:t>
            </a:r>
            <a:r>
              <a:rPr lang="zh-CN" altLang="en-US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/>
              <a:t>q below 0.05</a:t>
            </a:r>
            <a:r>
              <a:t>. </a:t>
            </a:r>
            <a:endParaRPr lang="en-US"/>
          </a:p>
          <a:p>
            <a:r>
              <a:t>In contrast, none of mid-century models reach P below 0.05.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historical depth analysis. </a:t>
            </a:r>
            <a:endParaRPr lang="en-US"/>
          </a:p>
          <a:p>
            <a:r>
              <a:t>Potential for distribution change </a:t>
            </a:r>
            <a:r>
              <a:rPr lang="zh-CN" altLang="zh-CN" sz="1800">
                <a:solidFill>
                  <a:srgbClr val="222222"/>
                </a:solidFill>
                <a:effectLst/>
                <a:ea typeface="Arial Unicode MS" panose="020B0604020202020204" pitchFamily="34" charset="-128"/>
              </a:rPr>
              <a:t>was not associated with historical depth shift</a:t>
            </a:r>
            <a:r>
              <a:rPr lang="en-US" altLang="zh-CN" sz="1800">
                <a:solidFill>
                  <a:srgbClr val="222222"/>
                </a:solidFill>
                <a:effectLst/>
                <a:ea typeface="Arial Unicode MS" panose="020B0604020202020204" pitchFamily="34" charset="-128"/>
              </a:rPr>
              <a:t>.</a:t>
            </a:r>
            <a:r>
              <a:t> </a:t>
            </a:r>
            <a:endParaRPr lang="en-US"/>
          </a:p>
          <a:p>
            <a:r>
              <a:t>Reproductive strategy complexity and other stressors have nominal positive association</a:t>
            </a:r>
            <a:r>
              <a:rPr lang="en-US"/>
              <a:t>s</a:t>
            </a:r>
            <a:r>
              <a:t>. </a:t>
            </a:r>
            <a:endParaRPr lang="en-US"/>
          </a:p>
          <a:p>
            <a:r>
              <a:t>No depth association survives FDR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supplementary validation asks whether potential for distribution change corresponds to thermal habitat availability. </a:t>
            </a:r>
            <a:endParaRPr lang="en-US"/>
          </a:p>
          <a:p>
            <a:r>
              <a:t>We use the </a:t>
            </a:r>
            <a:r>
              <a:rPr lang="en-US" altLang="zh-CN"/>
              <a:t>original</a:t>
            </a:r>
            <a:r>
              <a:rPr lang="zh-CN" altLang="en-US"/>
              <a:t> </a:t>
            </a:r>
            <a:r>
              <a:rPr lang="en-US" altLang="zh-CN"/>
              <a:t>data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log</a:t>
            </a:r>
            <a:r>
              <a:rPr lang="zh-CN" altLang="en-US"/>
              <a:t> </a:t>
            </a:r>
            <a:r>
              <a:rPr lang="en-US" altLang="zh-CN"/>
              <a:t>transfermation</a:t>
            </a:r>
            <a:r>
              <a:t>. </a:t>
            </a:r>
            <a:endParaRPr lang="en-US"/>
          </a:p>
          <a:p>
            <a:r>
              <a:t>High potential contains 88 of the 110 records, which restricts information across score levels.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Potential for distribution change is unrelated to </a:t>
            </a:r>
            <a:r>
              <a:rPr lang="en-US" altLang="zh-CN"/>
              <a:t>absolute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signed</a:t>
            </a:r>
            <a:r>
              <a:rPr lang="zh-CN" altLang="en-US"/>
              <a:t> </a:t>
            </a:r>
            <a:r>
              <a:rPr lang="en-US" altLang="zh-CN"/>
              <a:t>change</a:t>
            </a:r>
            <a:r>
              <a:t>.</a:t>
            </a:r>
            <a:r>
              <a:rPr lang="zh-CN" altLang="en-US"/>
              <a:t> </a:t>
            </a:r>
            <a:endParaRPr lang="en-US" altLang="zh-CN"/>
          </a:p>
          <a:p>
            <a:r>
              <a:t>SST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currents</a:t>
            </a:r>
            <a:r>
              <a:rPr lang="zh-CN" altLang="en-US"/>
              <a:t> </a:t>
            </a:r>
            <a:r>
              <a:t>are positive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both</a:t>
            </a:r>
            <a:r>
              <a:t>. </a:t>
            </a:r>
            <a:endParaRPr lang="en-US"/>
          </a:p>
          <a:p>
            <a:r>
              <a:t>No sensitivity </a:t>
            </a:r>
            <a:r>
              <a:rPr lang="en-US" altLang="zh-CN"/>
              <a:t>subscores</a:t>
            </a:r>
            <a:r>
              <a:t> survives </a:t>
            </a:r>
            <a:r>
              <a:rPr lang="en-US" altLang="zh-CN"/>
              <a:t>FDR</a:t>
            </a:r>
            <a:r>
              <a:rPr lang="zh-CN" altLang="en-US"/>
              <a:t> </a:t>
            </a:r>
            <a:r>
              <a:t>correction.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Absolute and signed responses answer distinct questions. </a:t>
            </a:r>
            <a:endParaRPr lang="en-US"/>
          </a:p>
          <a:p>
            <a:r>
              <a:t>Absolute theta represents the magnitude of estimated SST influence. </a:t>
            </a:r>
            <a:endParaRPr lang="en-US"/>
          </a:p>
          <a:p>
            <a:r>
              <a:t>Signed theta retains whether the estimated influence is positive or negative. </a:t>
            </a:r>
            <a:endParaRPr lang="en-US"/>
          </a:p>
          <a:p>
            <a:r>
              <a:t>The same distinction applies to MSY percentage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upper panel compares sensitivity with absolute theta</a:t>
            </a:r>
            <a:r>
              <a:rPr lang="en-US"/>
              <a:t>, </a:t>
            </a:r>
            <a:r>
              <a:t>the lower compares vulnerability with absolute MSY change. </a:t>
            </a:r>
            <a:endParaRPr lang="en-US"/>
          </a:p>
          <a:p>
            <a:r>
              <a:t>Sensitivity has no very</a:t>
            </a:r>
            <a:r>
              <a:rPr lang="zh-CN" altLang="en-US"/>
              <a:t> </a:t>
            </a:r>
            <a:r>
              <a:t>high records. </a:t>
            </a:r>
            <a:endParaRPr lang="en-US"/>
          </a:p>
          <a:p>
            <a:r>
              <a:t>No Spearman correlation reaches P below 0.05 for these two comparisons.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aggregate sensitivity coefficient is close to zero: β = 0.002. </a:t>
            </a:r>
            <a:endParaRPr lang="en-US"/>
          </a:p>
          <a:p>
            <a:r>
              <a:t>Sensitivity to ocean acidification has a nominal positive association. </a:t>
            </a:r>
            <a:endParaRPr lang="en-US"/>
          </a:p>
          <a:p>
            <a:r>
              <a:t>All other sensitivity</a:t>
            </a:r>
            <a:r>
              <a:rPr lang="zh-CN" altLang="en-US"/>
              <a:t> </a:t>
            </a:r>
            <a:r>
              <a:t>attribute results also fail the FDR threshold. </a:t>
            </a:r>
            <a:endParaRPr lang="en-US"/>
          </a:p>
          <a:p>
            <a:r>
              <a:t>Sensitivity to temperature has a coefficient of </a:t>
            </a:r>
            <a:r>
              <a:rPr lang="en-US"/>
              <a:t>0.003 </a:t>
            </a:r>
            <a:r>
              <a:t>for absolute theta.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Vulnerability has no detected aggregate correspondence with absolute MSY change. </a:t>
            </a:r>
            <a:endParaRPr lang="en-US"/>
          </a:p>
          <a:p>
            <a:r>
              <a:t>Air</a:t>
            </a:r>
            <a:r>
              <a:rPr lang="zh-CN" altLang="en-US"/>
              <a:t> </a:t>
            </a:r>
            <a:r>
              <a:t>temperature exposure has a negative association. </a:t>
            </a:r>
            <a:endParaRPr lang="en-US"/>
          </a:p>
          <a:p>
            <a:r>
              <a:t>Aggregate exposure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t>Salinity </a:t>
            </a:r>
            <a:r>
              <a:rPr lang="en-US" altLang="zh-CN"/>
              <a:t>are</a:t>
            </a:r>
            <a:r>
              <a:t> </a:t>
            </a:r>
            <a:r>
              <a:rPr lang="en-US" altLang="zh-CN"/>
              <a:t>nominal</a:t>
            </a:r>
            <a:r>
              <a:rPr lang="zh-CN" altLang="en-US"/>
              <a:t> </a:t>
            </a:r>
            <a:r>
              <a:t>negative with </a:t>
            </a:r>
            <a:r>
              <a:rPr lang="en-US" altLang="zh-CN"/>
              <a:t>MSY</a:t>
            </a:r>
            <a:r>
              <a:rPr lang="zh-CN" altLang="en-US"/>
              <a:t> </a:t>
            </a:r>
            <a:r>
              <a:rPr lang="en-US" altLang="zh-CN"/>
              <a:t>Change,</a:t>
            </a:r>
            <a:r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n</a:t>
            </a:r>
            <a:r>
              <a:t>either passes q below 0.05. </a:t>
            </a:r>
            <a:endParaRPr lang="en-US"/>
          </a:p>
          <a:p>
            <a:r>
              <a:t>No sensitivity attribute passes correction. </a:t>
            </a:r>
            <a:endParaRPr lang="en-US"/>
          </a:p>
          <a:p>
            <a:r>
              <a:t>The negative coefficient describes smaller absolute MSY changes at higher exposure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Signed</a:t>
            </a:r>
            <a:r>
              <a:rPr lang="zh-CN" altLang="en-US"/>
              <a:t> </a:t>
            </a:r>
            <a:r>
              <a:rPr lang="en-US" altLang="zh-CN"/>
              <a:t>response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t>no significant</a:t>
            </a:r>
            <a:r>
              <a:rPr lang="zh-CN" altLang="en-US"/>
              <a:t> </a:t>
            </a:r>
            <a:r>
              <a:t>association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theta</a:t>
            </a:r>
            <a:r>
              <a:t>. </a:t>
            </a:r>
            <a:endParaRPr lang="en-US"/>
          </a:p>
          <a:p>
            <a:r>
              <a:t>For signed MSY change, sensitivity is positive. </a:t>
            </a:r>
            <a:endParaRPr lang="en-US"/>
          </a:p>
          <a:p>
            <a:r>
              <a:t>Vulnerability and aggregate exposure remain nonsignificant.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</a:t>
            </a:r>
            <a:r>
              <a:rPr lang="en-US" altLang="zh-CN" sz="1200" b="0">
                <a:solidFill>
                  <a:srgbClr val="151515"/>
                </a:solidFill>
                <a:latin typeface="Arial"/>
                <a:cs typeface="Arial"/>
              </a:rPr>
              <a:t>e</a:t>
            </a:r>
            <a:r>
              <a:rPr lang="en-US" altLang="zh-CN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xpected impact and response</a:t>
            </a:r>
            <a:r>
              <a:rPr lang="zh-CN" altLang="en-US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signs</a:t>
            </a:r>
            <a:r>
              <a:t>. </a:t>
            </a:r>
            <a:endParaRPr lang="en-US"/>
          </a:p>
          <a:p>
            <a:r>
              <a:t>The matrices compare expert direction against the observed sign of theta or MSY change. </a:t>
            </a:r>
            <a:endParaRPr lang="en-US"/>
          </a:p>
          <a:p>
            <a:r>
              <a:t>For theta, </a:t>
            </a:r>
            <a:r>
              <a:rPr lang="en-US" altLang="zh-CN"/>
              <a:t>25%</a:t>
            </a:r>
            <a:r>
              <a:rPr lang="zh-CN" altLang="en-US"/>
              <a:t> </a:t>
            </a:r>
            <a:r>
              <a:t>stocks agree. </a:t>
            </a:r>
            <a:endParaRPr lang="en-US"/>
          </a:p>
          <a:p>
            <a:r>
              <a:t>For MSY change, </a:t>
            </a:r>
            <a:r>
              <a:rPr lang="en-US" altLang="zh-CN"/>
              <a:t>22%</a:t>
            </a:r>
            <a:r>
              <a:t>. CVA directions are more negative than theta signs, </a:t>
            </a:r>
            <a:r>
              <a:rPr lang="en-US" altLang="zh-CN"/>
              <a:t>over</a:t>
            </a:r>
            <a:r>
              <a:t> 6</a:t>
            </a:r>
            <a:r>
              <a:rPr lang="en-US" altLang="zh-CN"/>
              <a:t>0%</a:t>
            </a:r>
            <a: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categorical and continuous analyses answer different questions. </a:t>
            </a:r>
            <a:endParaRPr lang="en-US"/>
          </a:p>
          <a:p>
            <a:r>
              <a:t>Fisher tests find no association between the three expert direction classes and response</a:t>
            </a:r>
            <a:r>
              <a:rPr lang="zh-CN" altLang="en-US"/>
              <a:t> </a:t>
            </a:r>
            <a:r>
              <a:t>sign classes. </a:t>
            </a:r>
            <a:endParaRPr lang="en-US"/>
          </a:p>
          <a:p>
            <a:r>
              <a:t>Spearman correlation is near zero for theta,</a:t>
            </a:r>
            <a:r>
              <a:rPr lang="zh-CN" altLang="en-US"/>
              <a:t> </a:t>
            </a:r>
            <a:r>
              <a:t>signed MSY has rho </a:t>
            </a:r>
            <a:r>
              <a:rPr lang="en-US" altLang="zh-CN"/>
              <a:t>-</a:t>
            </a:r>
            <a:r>
              <a:t>0.318. </a:t>
            </a:r>
            <a:endParaRPr lang="en-US"/>
          </a:p>
          <a:p>
            <a:r>
              <a:t>After region adjustment, the MSY coefficient is </a:t>
            </a:r>
            <a:r>
              <a:rPr lang="en-US" altLang="zh-CN"/>
              <a:t>-</a:t>
            </a:r>
            <a:r>
              <a:t>2.507</a:t>
            </a:r>
            <a:r>
              <a:rPr lang="en-US" altLang="zh-CN"/>
              <a:t>,</a:t>
            </a:r>
            <a:r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t>support a nominal inverse association</a:t>
            </a:r>
            <a:r>
              <a:rPr lang="en-US" altLang="zh-CN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message is limited correspondence between </a:t>
            </a:r>
            <a:r>
              <a:rPr lang="en-US" altLang="zh-CN"/>
              <a:t>CVA</a:t>
            </a:r>
            <a:r>
              <a:rPr lang="zh-CN" altLang="en-US"/>
              <a:t> </a:t>
            </a:r>
            <a:r>
              <a:rPr lang="en-US" altLang="zh-CN"/>
              <a:t>score</a:t>
            </a:r>
            <a:r>
              <a:rPr lang="zh-CN" altLang="en-US"/>
              <a:t> </a:t>
            </a:r>
            <a:r>
              <a:t>and their proposed </a:t>
            </a:r>
            <a:r>
              <a:rPr lang="en-US" altLang="zh-CN"/>
              <a:t>empirical</a:t>
            </a:r>
            <a:r>
              <a:rPr lang="zh-CN" altLang="en-US"/>
              <a:t> </a:t>
            </a:r>
            <a:r>
              <a:t>response. </a:t>
            </a:r>
            <a:endParaRPr lang="en-US"/>
          </a:p>
          <a:p>
            <a:r>
              <a:t>Some individual exposure factors contain stronger statistical signals, although the pattern varies by endpoint. </a:t>
            </a:r>
            <a:endParaRPr lang="en-US"/>
          </a:p>
          <a:p>
            <a:r>
              <a:t>Directional agreement is descriptively low, and the region-adjusted inverse MSY association remains nominal after correction. </a:t>
            </a:r>
            <a:endParaRPr lang="en-US"/>
          </a:p>
          <a:p>
            <a:r>
              <a:t>These results support careful interpretation of the tested classifications and metrics.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First, </a:t>
            </a:r>
            <a:r>
              <a:rPr lang="en-US" altLang="zh-CN"/>
              <a:t>if</a:t>
            </a:r>
            <a:r>
              <a:rPr lang="zh-CN" altLang="en-US"/>
              <a:t> </a:t>
            </a:r>
            <a:r>
              <a:t>the future MSY projections enter the analysis, should the historical comparison remain as validation after that update? </a:t>
            </a:r>
            <a:endParaRPr lang="en-US"/>
          </a:p>
          <a:p>
            <a:r>
              <a:t>Second, where should the thermal habitat and signed</a:t>
            </a:r>
            <a:r>
              <a:rPr lang="zh-CN" altLang="en-US"/>
              <a:t> </a:t>
            </a:r>
            <a:r>
              <a:t>response analyses sit in the manuscript?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B1549A4B-EA11-4B4A-B547-2F398898E349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8305800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Agreement between expert- and model-based</a:t>
            </a:r>
          </a:p>
          <a:p>
            <a:pPr algn="l">
              <a:defRPr sz="28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assessments of the climate vulnerability</a:t>
            </a:r>
          </a:p>
          <a:p>
            <a:pPr algn="l">
              <a:defRPr sz="28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of marine species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E8FBBA56-C2E0-4965-8B37-C57D108159CA}"/>
              </a:ext>
            </a:extLst>
          </p:cNvPr>
          <p:cNvSpPr>
            <a:spLocks noGrp="1"/>
          </p:cNvSpPr>
          <p:nvPr/>
        </p:nvSpPr>
        <p:spPr>
          <a:xfrm>
            <a:off x="419100" y="2962275"/>
            <a:ext cx="8305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0647B6D3-EFA9-4DB1-AE30-15150A74BEB1}"/>
              </a:ext>
            </a:extLst>
          </p:cNvPr>
          <p:cNvSpPr>
            <a:spLocks noGrp="1"/>
          </p:cNvSpPr>
          <p:nvPr/>
        </p:nvSpPr>
        <p:spPr>
          <a:xfrm>
            <a:off x="419100" y="3638550"/>
            <a:ext cx="5715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Shipeng Dong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altLang="zh-CN"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</a:t>
            </a: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September 2026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A6CC8F5A-E71E-4E07-AD8B-3D61A6476D95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318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5">
            <a:extLst>
              <a:ext uri="{FF2B5EF4-FFF2-40B4-BE49-F238E27FC236}">
                <a16:creationId xmlns:a16="http://schemas.microsoft.com/office/drawing/2014/main" id="{B0181929-5822-4EBC-A09A-9810ACDEE1D9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Validation questions</a:t>
            </a:r>
          </a:p>
        </p:txBody>
      </p:sp>
      <p:sp>
        <p:nvSpPr>
          <p:cNvPr id="2" name="text-6">
            <a:extLst>
              <a:ext uri="{FF2B5EF4-FFF2-40B4-BE49-F238E27FC236}">
                <a16:creationId xmlns:a16="http://schemas.microsoft.com/office/drawing/2014/main" id="{7485B415-7EC3-436E-AC3D-7AB58D505172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3937566947"/>
              </p:ext>
            </p:extLst>
          </p:nvPr>
        </p:nvGraphicFramePr>
        <p:xfrm>
          <a:off x="419100" y="1304925"/>
          <a:ext cx="8305800" cy="2809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CVA classification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Empirical response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Potential for distribution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 shift, centroid shift, depth shift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and thermal habitat availability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Absolute </a:t>
                      </a:r>
                      <a:r>
                        <a:rPr sz="1575" b="0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Vulnerability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Absolute MSY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Expected direction of impact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Signed </a:t>
                      </a:r>
                      <a:r>
                        <a:rPr sz="1575" b="0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 and signed MSY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-7">
            <a:extLst>
              <a:ext uri="{FF2B5EF4-FFF2-40B4-BE49-F238E27FC236}">
                <a16:creationId xmlns:a16="http://schemas.microsoft.com/office/drawing/2014/main" id="{78429221-DB32-4757-BB48-14663D2E1B07}"/>
              </a:ext>
            </a:extLst>
          </p:cNvPr>
          <p:cNvSpPr>
            <a:spLocks noGrp="1"/>
          </p:cNvSpPr>
          <p:nvPr/>
        </p:nvSpPr>
        <p:spPr>
          <a:xfrm>
            <a:off x="419100" y="439102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comparisons assess correspondence within the available matched datasets.</a:t>
            </a:r>
          </a:p>
        </p:txBody>
      </p:sp>
    </p:spTree>
    <p:extLst>
      <p:ext uri="{BB962C8B-B14F-4D97-AF65-F5344CB8AC3E}">
        <p14:creationId xmlns:p14="http://schemas.microsoft.com/office/powerpoint/2010/main" val="158808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8">
            <a:extLst>
              <a:ext uri="{FF2B5EF4-FFF2-40B4-BE49-F238E27FC236}">
                <a16:creationId xmlns:a16="http://schemas.microsoft.com/office/drawing/2014/main" id="{5CE311F6-37B4-412D-B37B-9CD8C7B3361B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Matched data across five U.S. regions</a:t>
            </a:r>
          </a:p>
        </p:txBody>
      </p:sp>
      <p:sp>
        <p:nvSpPr>
          <p:cNvPr id="2" name="text-9">
            <a:extLst>
              <a:ext uri="{FF2B5EF4-FFF2-40B4-BE49-F238E27FC236}">
                <a16:creationId xmlns:a16="http://schemas.microsoft.com/office/drawing/2014/main" id="{56DF2838-081A-4D06-8FEF-1B7E07A8883B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419100" y="1200150"/>
          <a:ext cx="8305800" cy="27241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Historical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shift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Projected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shift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Productivity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Direction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Bering Sea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Gulf of Mexico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Northeast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Southeast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West Coast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194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-10">
            <a:extLst>
              <a:ext uri="{FF2B5EF4-FFF2-40B4-BE49-F238E27FC236}">
                <a16:creationId xmlns:a16="http://schemas.microsoft.com/office/drawing/2014/main" id="{2888D407-2D02-452E-97D2-61C914FA9207}"/>
              </a:ext>
            </a:extLst>
          </p:cNvPr>
          <p:cNvSpPr>
            <a:spLocks noGrp="1"/>
          </p:cNvSpPr>
          <p:nvPr/>
        </p:nvSpPr>
        <p:spPr>
          <a:xfrm>
            <a:off x="419100" y="4019550"/>
            <a:ext cx="8305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Historical: DISMAP     Projected: Morley RCP 8.5 mid-century</a:t>
            </a:r>
          </a:p>
          <a:p>
            <a:pPr algn="l"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Productivity: stock assessments     Direction: two missing scores excluded</a:t>
            </a:r>
          </a:p>
        </p:txBody>
      </p:sp>
    </p:spTree>
    <p:extLst>
      <p:ext uri="{BB962C8B-B14F-4D97-AF65-F5344CB8AC3E}">
        <p14:creationId xmlns:p14="http://schemas.microsoft.com/office/powerpoint/2010/main" val="114492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11">
            <a:extLst>
              <a:ext uri="{FF2B5EF4-FFF2-40B4-BE49-F238E27FC236}">
                <a16:creationId xmlns:a16="http://schemas.microsoft.com/office/drawing/2014/main" id="{D3D6FA3B-EB4C-43B1-93EB-BCFF5EE456EB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Common analysis framework</a:t>
            </a:r>
          </a:p>
        </p:txBody>
      </p:sp>
      <p:sp>
        <p:nvSpPr>
          <p:cNvPr id="2" name="text-12">
            <a:extLst>
              <a:ext uri="{FF2B5EF4-FFF2-40B4-BE49-F238E27FC236}">
                <a16:creationId xmlns:a16="http://schemas.microsoft.com/office/drawing/2014/main" id="{3C7D3C4D-23B8-44BB-8AE3-4F453E972E8E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text-13">
            <a:extLst>
              <a:ext uri="{FF2B5EF4-FFF2-40B4-BE49-F238E27FC236}">
                <a16:creationId xmlns:a16="http://schemas.microsoft.com/office/drawing/2014/main" id="{D5CD5769-B20B-49FB-8AD3-E36876EFAE16}"/>
              </a:ext>
            </a:extLst>
          </p:cNvPr>
          <p:cNvSpPr>
            <a:spLocks noGrp="1"/>
          </p:cNvSpPr>
          <p:nvPr/>
        </p:nvSpPr>
        <p:spPr>
          <a:xfrm>
            <a:off x="419100" y="1190625"/>
            <a:ext cx="83058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Primary model</a:t>
            </a:r>
          </a:p>
        </p:txBody>
      </p:sp>
      <p:sp>
        <p:nvSpPr>
          <p:cNvPr id="4" name="text-14">
            <a:extLst>
              <a:ext uri="{FF2B5EF4-FFF2-40B4-BE49-F238E27FC236}">
                <a16:creationId xmlns:a16="http://schemas.microsoft.com/office/drawing/2014/main" id="{8ED0506A-81CC-4D18-AA2F-B946C6EE59DE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305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response ~ predictor_z + region</a:t>
            </a:r>
          </a:p>
        </p:txBody>
      </p:sp>
      <p:sp>
        <p:nvSpPr>
          <p:cNvPr id="5" name="text-15">
            <a:extLst>
              <a:ext uri="{FF2B5EF4-FFF2-40B4-BE49-F238E27FC236}">
                <a16:creationId xmlns:a16="http://schemas.microsoft.com/office/drawing/2014/main" id="{44222352-731B-4CDB-94AB-FC2C00C5F5F9}"/>
              </a:ext>
            </a:extLst>
          </p:cNvPr>
          <p:cNvSpPr>
            <a:spLocks noGrp="1"/>
          </p:cNvSpPr>
          <p:nvPr/>
        </p:nvSpPr>
        <p:spPr>
          <a:xfrm>
            <a:off x="419100" y="210502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Predictors: z scores within each complete-case dataset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Shifts: log1p(km or m). Productivity: raw absolute or signed units.</a:t>
            </a:r>
          </a:p>
        </p:txBody>
      </p:sp>
      <p:sp>
        <p:nvSpPr>
          <p:cNvPr id="6" name="text-16">
            <a:extLst>
              <a:ext uri="{FF2B5EF4-FFF2-40B4-BE49-F238E27FC236}">
                <a16:creationId xmlns:a16="http://schemas.microsoft.com/office/drawing/2014/main" id="{AD4CD778-4A3C-4B14-81C2-CBD92DB39B24}"/>
              </a:ext>
            </a:extLst>
          </p:cNvPr>
          <p:cNvSpPr>
            <a:spLocks noGrp="1"/>
          </p:cNvSpPr>
          <p:nvPr/>
        </p:nvSpPr>
        <p:spPr>
          <a:xfrm>
            <a:off x="419100" y="2905125"/>
            <a:ext cx="8305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BH correction within endpoint and predictor family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FDR: q &lt; 0.05     Nominal: P &lt; 0.05 and q ≥ 0.05</a:t>
            </a:r>
          </a:p>
        </p:txBody>
      </p:sp>
    </p:spTree>
    <p:extLst>
      <p:ext uri="{BB962C8B-B14F-4D97-AF65-F5344CB8AC3E}">
        <p14:creationId xmlns:p14="http://schemas.microsoft.com/office/powerpoint/2010/main" val="52129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-18">
            <a:extLst>
              <a:ext uri="{FF2B5EF4-FFF2-40B4-BE49-F238E27FC236}">
                <a16:creationId xmlns:a16="http://schemas.microsoft.com/office/drawing/2014/main" id="{BC1409E4-B75B-42CD-BBEA-623B9C751AA3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Historical and mid-century redistribution</a:t>
            </a:r>
          </a:p>
        </p:txBody>
      </p:sp>
      <p:sp>
        <p:nvSpPr>
          <p:cNvPr id="3" name="text-20">
            <a:extLst>
              <a:ext uri="{FF2B5EF4-FFF2-40B4-BE49-F238E27FC236}">
                <a16:creationId xmlns:a16="http://schemas.microsoft.com/office/drawing/2014/main" id="{DA5F1029-A922-4984-AB67-F496282D4E8D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276" name="图片 275">
            <a:extLst>
              <a:ext uri="{FF2B5EF4-FFF2-40B4-BE49-F238E27FC236}">
                <a16:creationId xmlns:a16="http://schemas.microsoft.com/office/drawing/2014/main" id="{36B78F46-8576-5AA4-7417-2FF32A65C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993775"/>
            <a:ext cx="85090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3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-291">
            <a:extLst>
              <a:ext uri="{FF2B5EF4-FFF2-40B4-BE49-F238E27FC236}">
                <a16:creationId xmlns:a16="http://schemas.microsoft.com/office/drawing/2014/main" id="{0FE92501-78C1-4C81-BDE8-327C5B05DDA4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Potential for distribution change and its attributes</a:t>
            </a:r>
          </a:p>
        </p:txBody>
      </p:sp>
      <p:sp>
        <p:nvSpPr>
          <p:cNvPr id="2" name="text-292">
            <a:extLst>
              <a:ext uri="{FF2B5EF4-FFF2-40B4-BE49-F238E27FC236}">
                <a16:creationId xmlns:a16="http://schemas.microsoft.com/office/drawing/2014/main" id="{93F11223-0EE0-4876-9EDA-95B3C7BA14E3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7" name="text-337">
            <a:extLst>
              <a:ext uri="{FF2B5EF4-FFF2-40B4-BE49-F238E27FC236}">
                <a16:creationId xmlns:a16="http://schemas.microsoft.com/office/drawing/2014/main" id="{EA830C84-E1DB-4647-AD22-77C1264C661C}"/>
              </a:ext>
            </a:extLst>
          </p:cNvPr>
          <p:cNvSpPr>
            <a:spLocks noGrp="1"/>
          </p:cNvSpPr>
          <p:nvPr/>
        </p:nvSpPr>
        <p:spPr>
          <a:xfrm>
            <a:off x="419100" y="439102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Potential score: P = 0.705 for historical shift and P = 0.879 for projected shift.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EFF2841C-A8D5-E119-2DC6-D183BEF4C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89025"/>
            <a:ext cx="8071485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6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-338">
            <a:extLst>
              <a:ext uri="{FF2B5EF4-FFF2-40B4-BE49-F238E27FC236}">
                <a16:creationId xmlns:a16="http://schemas.microsoft.com/office/drawing/2014/main" id="{5941679C-FBBD-4955-B9A6-1DF191F8089D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Exposure associations differ between endpoints</a:t>
            </a:r>
          </a:p>
        </p:txBody>
      </p:sp>
      <p:sp>
        <p:nvSpPr>
          <p:cNvPr id="2" name="text-339">
            <a:extLst>
              <a:ext uri="{FF2B5EF4-FFF2-40B4-BE49-F238E27FC236}">
                <a16:creationId xmlns:a16="http://schemas.microsoft.com/office/drawing/2014/main" id="{AB5170E5-BA20-41B3-A109-81B9657089AA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" name="text-399">
            <a:extLst>
              <a:ext uri="{FF2B5EF4-FFF2-40B4-BE49-F238E27FC236}">
                <a16:creationId xmlns:a16="http://schemas.microsoft.com/office/drawing/2014/main" id="{1ABF1563-0AF5-4994-8296-CE2D040DE9F2}"/>
              </a:ext>
            </a:extLst>
          </p:cNvPr>
          <p:cNvSpPr>
            <a:spLocks noGrp="1"/>
          </p:cNvSpPr>
          <p:nvPr/>
        </p:nvSpPr>
        <p:spPr>
          <a:xfrm>
            <a:off x="419100" y="444817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Historical exposure, salinity and air temperature meet q &lt; 0.05.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 projected coefficient meets P &lt; 0.05.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D1119BD-11DF-341A-2F17-DEF63F8A9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995997"/>
            <a:ext cx="8011160" cy="33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0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-400">
            <a:extLst>
              <a:ext uri="{FF2B5EF4-FFF2-40B4-BE49-F238E27FC236}">
                <a16:creationId xmlns:a16="http://schemas.microsoft.com/office/drawing/2014/main" id="{4214930C-7276-4890-9897-A500C605D0A3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Historical depth shift: limited correspondence</a:t>
            </a:r>
          </a:p>
        </p:txBody>
      </p:sp>
      <p:sp>
        <p:nvSpPr>
          <p:cNvPr id="2" name="text-401">
            <a:extLst>
              <a:ext uri="{FF2B5EF4-FFF2-40B4-BE49-F238E27FC236}">
                <a16:creationId xmlns:a16="http://schemas.microsoft.com/office/drawing/2014/main" id="{7315660D-0FBF-4CDA-8635-392C71FC53E1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7" name="text-566">
            <a:extLst>
              <a:ext uri="{FF2B5EF4-FFF2-40B4-BE49-F238E27FC236}">
                <a16:creationId xmlns:a16="http://schemas.microsoft.com/office/drawing/2014/main" id="{B71CB66E-B3FB-41BC-BDA3-81461A8B01EA}"/>
              </a:ext>
            </a:extLst>
          </p:cNvPr>
          <p:cNvSpPr>
            <a:spLocks noGrp="1"/>
          </p:cNvSpPr>
          <p:nvPr/>
        </p:nvSpPr>
        <p:spPr>
          <a:xfrm>
            <a:off x="419100" y="4457700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All 23 depth associations have q ≥ 0.150.</a:t>
            </a: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31C56DBD-9B51-D5BB-6313-F3D346791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50973"/>
            <a:ext cx="8059420" cy="1604645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a16:creationId xmlns:a16="http://schemas.microsoft.com/office/drawing/2014/main" id="{A0843A65-CBA0-7307-B872-A78BCB426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20766"/>
            <a:ext cx="7999095" cy="17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5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-567">
            <a:extLst>
              <a:ext uri="{FF2B5EF4-FFF2-40B4-BE49-F238E27FC236}">
                <a16:creationId xmlns:a16="http://schemas.microsoft.com/office/drawing/2014/main" id="{1AABEB5F-B2C0-4499-89C6-394FCACF2F5A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Thermal habitat availability adds another metric</a:t>
            </a:r>
          </a:p>
        </p:txBody>
      </p:sp>
      <p:sp>
        <p:nvSpPr>
          <p:cNvPr id="2" name="text-568">
            <a:extLst>
              <a:ext uri="{FF2B5EF4-FFF2-40B4-BE49-F238E27FC236}">
                <a16:creationId xmlns:a16="http://schemas.microsoft.com/office/drawing/2014/main" id="{3E965BE0-D0D6-4B12-A8EF-BC6820F75D21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text-569">
            <a:extLst>
              <a:ext uri="{FF2B5EF4-FFF2-40B4-BE49-F238E27FC236}">
                <a16:creationId xmlns:a16="http://schemas.microsoft.com/office/drawing/2014/main" id="{3DBAF458-139B-4DCF-86FB-14AE07C3DAA2}"/>
              </a:ext>
            </a:extLst>
          </p:cNvPr>
          <p:cNvSpPr>
            <a:spLocks noGrp="1"/>
          </p:cNvSpPr>
          <p:nvPr/>
        </p:nvSpPr>
        <p:spPr>
          <a:xfrm>
            <a:off x="419100" y="981075"/>
            <a:ext cx="8305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RCP 8.5: 2041 to 2060 relative to 2007 to 2020</a:t>
            </a:r>
          </a:p>
        </p:txBody>
      </p:sp>
      <p:sp>
        <p:nvSpPr>
          <p:cNvPr id="144" name="text-710">
            <a:extLst>
              <a:ext uri="{FF2B5EF4-FFF2-40B4-BE49-F238E27FC236}">
                <a16:creationId xmlns:a16="http://schemas.microsoft.com/office/drawing/2014/main" id="{0DF35F2D-41D5-4335-BD1A-C90ABC79E0A7}"/>
              </a:ext>
            </a:extLst>
          </p:cNvPr>
          <p:cNvSpPr>
            <a:spLocks noGrp="1"/>
          </p:cNvSpPr>
          <p:nvPr/>
        </p:nvSpPr>
        <p:spPr>
          <a:xfrm>
            <a:off x="419100" y="435292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110 records: 65 increases and 45 decreases. High potential contains 88 records.</a:t>
            </a:r>
          </a:p>
        </p:txBody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214FA5C6-FA35-5D54-B237-26F064EEB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590040"/>
            <a:ext cx="7733665" cy="276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9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-711">
            <a:extLst>
              <a:ext uri="{FF2B5EF4-FFF2-40B4-BE49-F238E27FC236}">
                <a16:creationId xmlns:a16="http://schemas.microsoft.com/office/drawing/2014/main" id="{1AD3E38E-2A6C-42BE-9BE5-7C3D31CC4C30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Habitat change relates to selected exposure factors</a:t>
            </a:r>
          </a:p>
        </p:txBody>
      </p:sp>
      <p:sp>
        <p:nvSpPr>
          <p:cNvPr id="2" name="text-712">
            <a:extLst>
              <a:ext uri="{FF2B5EF4-FFF2-40B4-BE49-F238E27FC236}">
                <a16:creationId xmlns:a16="http://schemas.microsoft.com/office/drawing/2014/main" id="{BE2555CA-A2BE-4E38-80CF-C4072BB2415D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0" name="text-780">
            <a:extLst>
              <a:ext uri="{FF2B5EF4-FFF2-40B4-BE49-F238E27FC236}">
                <a16:creationId xmlns:a16="http://schemas.microsoft.com/office/drawing/2014/main" id="{6FA7A4B8-7FDC-4791-9B4C-C611F17B2511}"/>
              </a:ext>
            </a:extLst>
          </p:cNvPr>
          <p:cNvSpPr>
            <a:spLocks noGrp="1"/>
          </p:cNvSpPr>
          <p:nvPr/>
        </p:nvSpPr>
        <p:spPr>
          <a:xfrm>
            <a:off x="419100" y="4438650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Absolute change: currents and SST meet q &lt; 0.05.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Potential score shows no association with either response.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72B69F6E-A89A-21B6-E685-60B73007C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" y="991235"/>
            <a:ext cx="8276590" cy="33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2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781">
            <a:extLst>
              <a:ext uri="{FF2B5EF4-FFF2-40B4-BE49-F238E27FC236}">
                <a16:creationId xmlns:a16="http://schemas.microsoft.com/office/drawing/2014/main" id="{86B97752-A827-4A7F-9B5D-9BFAC79FCD00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Productivity magnitude and direction</a:t>
            </a:r>
          </a:p>
        </p:txBody>
      </p:sp>
      <p:sp>
        <p:nvSpPr>
          <p:cNvPr id="2" name="text-782">
            <a:extLst>
              <a:ext uri="{FF2B5EF4-FFF2-40B4-BE49-F238E27FC236}">
                <a16:creationId xmlns:a16="http://schemas.microsoft.com/office/drawing/2014/main" id="{D26D5137-5949-4971-8490-74DD0C990CA2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419100" y="1171575"/>
          <a:ext cx="8305800" cy="2124075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Response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Absolute </a:t>
                      </a:r>
                      <a:r>
                        <a:rPr sz="1575" b="0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Magnitude of SST influence on productivity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Signed </a:t>
                      </a:r>
                      <a:r>
                        <a:rPr sz="1575" b="0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Direction and magnitude of SST influence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Absolute MSY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Magnitude of the percentage MSY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Signed MSY change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Increase or decrease in MSY (%)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-783">
            <a:extLst>
              <a:ext uri="{FF2B5EF4-FFF2-40B4-BE49-F238E27FC236}">
                <a16:creationId xmlns:a16="http://schemas.microsoft.com/office/drawing/2014/main" id="{A6B64D03-6B0E-4CD5-99C5-8C7ABB47C672}"/>
              </a:ext>
            </a:extLst>
          </p:cNvPr>
          <p:cNvSpPr>
            <a:spLocks noGrp="1"/>
          </p:cNvSpPr>
          <p:nvPr/>
        </p:nvSpPr>
        <p:spPr>
          <a:xfrm>
            <a:off x="419100" y="3552825"/>
            <a:ext cx="8305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Current data: historical MSY comparison</a:t>
            </a:r>
          </a:p>
        </p:txBody>
      </p:sp>
      <p:sp>
        <p:nvSpPr>
          <p:cNvPr id="5" name="text-784">
            <a:extLst>
              <a:ext uri="{FF2B5EF4-FFF2-40B4-BE49-F238E27FC236}">
                <a16:creationId xmlns:a16="http://schemas.microsoft.com/office/drawing/2014/main" id="{BF7DED13-B012-4EF7-8324-EA50030C9DD0}"/>
              </a:ext>
            </a:extLst>
          </p:cNvPr>
          <p:cNvSpPr>
            <a:spLocks noGrp="1"/>
          </p:cNvSpPr>
          <p:nvPr/>
        </p:nvSpPr>
        <p:spPr>
          <a:xfrm>
            <a:off x="419100" y="3981450"/>
            <a:ext cx="8305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1930 to 1939 versus 2001 to 2010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Future MSY projections for 2026 to 2055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004976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-785">
            <a:extLst>
              <a:ext uri="{FF2B5EF4-FFF2-40B4-BE49-F238E27FC236}">
                <a16:creationId xmlns:a16="http://schemas.microsoft.com/office/drawing/2014/main" id="{FAF47F08-3548-4165-B281-FE4B37AABDAD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Absolute productivity responses across CVA scores</a:t>
            </a:r>
          </a:p>
        </p:txBody>
      </p:sp>
      <p:sp>
        <p:nvSpPr>
          <p:cNvPr id="2" name="text-786">
            <a:extLst>
              <a:ext uri="{FF2B5EF4-FFF2-40B4-BE49-F238E27FC236}">
                <a16:creationId xmlns:a16="http://schemas.microsoft.com/office/drawing/2014/main" id="{4DB2FC3D-1EEE-4E62-B2C2-B1D9BD4B8982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57" name="图片 256">
            <a:extLst>
              <a:ext uri="{FF2B5EF4-FFF2-40B4-BE49-F238E27FC236}">
                <a16:creationId xmlns:a16="http://schemas.microsoft.com/office/drawing/2014/main" id="{895AA601-DE8C-4B5E-FCA3-D8C2B348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" y="1141730"/>
            <a:ext cx="8083550" cy="345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06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-1040">
            <a:extLst>
              <a:ext uri="{FF2B5EF4-FFF2-40B4-BE49-F238E27FC236}">
                <a16:creationId xmlns:a16="http://schemas.microsoft.com/office/drawing/2014/main" id="{51E9D6B6-17B1-4363-8846-BA88C9289CC3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Absolute </a:t>
            </a:r>
            <a:r>
              <a:rPr sz="2475" b="0" i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θ</a:t>
            </a: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shows little correspondence with sensitivity</a:t>
            </a:r>
          </a:p>
        </p:txBody>
      </p:sp>
      <p:sp>
        <p:nvSpPr>
          <p:cNvPr id="2" name="text-1041">
            <a:extLst>
              <a:ext uri="{FF2B5EF4-FFF2-40B4-BE49-F238E27FC236}">
                <a16:creationId xmlns:a16="http://schemas.microsoft.com/office/drawing/2014/main" id="{DFFE7600-BA50-405E-B67F-4D8A38D30046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6" name="text-1095">
            <a:extLst>
              <a:ext uri="{FF2B5EF4-FFF2-40B4-BE49-F238E27FC236}">
                <a16:creationId xmlns:a16="http://schemas.microsoft.com/office/drawing/2014/main" id="{CF80EFEF-1B1F-45CC-BBFA-32DF3FA6701B}"/>
              </a:ext>
            </a:extLst>
          </p:cNvPr>
          <p:cNvSpPr>
            <a:spLocks noGrp="1"/>
          </p:cNvSpPr>
          <p:nvPr/>
        </p:nvSpPr>
        <p:spPr>
          <a:xfrm>
            <a:off x="419100" y="460057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Aggregate sensitivity: P = 0.790. No attribute meets q &lt; 0.05.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16C35162-8B6A-94A6-FCBA-E21016337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1005205"/>
            <a:ext cx="8264525" cy="359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1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-1096">
            <a:extLst>
              <a:ext uri="{FF2B5EF4-FFF2-40B4-BE49-F238E27FC236}">
                <a16:creationId xmlns:a16="http://schemas.microsoft.com/office/drawing/2014/main" id="{A33BD866-AC4F-4C09-88F1-1E13208D134B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Absolute MSY change and CVA exposure</a:t>
            </a:r>
          </a:p>
        </p:txBody>
      </p:sp>
      <p:sp>
        <p:nvSpPr>
          <p:cNvPr id="2" name="text-1097">
            <a:extLst>
              <a:ext uri="{FF2B5EF4-FFF2-40B4-BE49-F238E27FC236}">
                <a16:creationId xmlns:a16="http://schemas.microsoft.com/office/drawing/2014/main" id="{23875D17-B1FC-4D96-A620-EEFDADD82530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7" name="text-1142">
            <a:extLst>
              <a:ext uri="{FF2B5EF4-FFF2-40B4-BE49-F238E27FC236}">
                <a16:creationId xmlns:a16="http://schemas.microsoft.com/office/drawing/2014/main" id="{FD2F390D-EF38-4127-8A57-470940350724}"/>
              </a:ext>
            </a:extLst>
          </p:cNvPr>
          <p:cNvSpPr>
            <a:spLocks noGrp="1"/>
          </p:cNvSpPr>
          <p:nvPr/>
        </p:nvSpPr>
        <p:spPr>
          <a:xfrm>
            <a:off x="419100" y="450532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Air temperature: β = −3.004, q = 0.0043.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Aggregate exposure and salinity remain nominal associations.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68C4C5F-89FA-7F49-3D4E-91743675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59827"/>
            <a:ext cx="799909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-1143">
            <a:extLst>
              <a:ext uri="{FF2B5EF4-FFF2-40B4-BE49-F238E27FC236}">
                <a16:creationId xmlns:a16="http://schemas.microsoft.com/office/drawing/2014/main" id="{A67D0C1A-A5B4-4FA6-B02D-ADAFF3323FCE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Signed responses retain the MSY exposure associations</a:t>
            </a:r>
          </a:p>
        </p:txBody>
      </p:sp>
      <p:sp>
        <p:nvSpPr>
          <p:cNvPr id="2" name="text-1144">
            <a:extLst>
              <a:ext uri="{FF2B5EF4-FFF2-40B4-BE49-F238E27FC236}">
                <a16:creationId xmlns:a16="http://schemas.microsoft.com/office/drawing/2014/main" id="{F490D608-7D6A-4C69-ADAF-444BB8301E5D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1145">
            <a:extLst>
              <a:ext uri="{FF2B5EF4-FFF2-40B4-BE49-F238E27FC236}">
                <a16:creationId xmlns:a16="http://schemas.microsoft.com/office/drawing/2014/main" id="{9EECB20D-02FF-4910-B361-294A7921F60E}"/>
              </a:ext>
            </a:extLst>
          </p:cNvPr>
          <p:cNvSpPr>
            <a:spLocks noGrp="1"/>
          </p:cNvSpPr>
          <p:nvPr/>
        </p:nvSpPr>
        <p:spPr>
          <a:xfrm>
            <a:off x="419100" y="1057275"/>
            <a:ext cx="83058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Signed </a:t>
            </a:r>
            <a:r>
              <a:rPr sz="1650" b="0" i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θ</a:t>
            </a: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: aggregate sensitivity P = 0.194, all attribute q &gt; 0.05</a:t>
            </a:r>
          </a:p>
        </p:txBody>
      </p:sp>
      <p:sp>
        <p:nvSpPr>
          <p:cNvPr id="56" name="text-1198">
            <a:extLst>
              <a:ext uri="{FF2B5EF4-FFF2-40B4-BE49-F238E27FC236}">
                <a16:creationId xmlns:a16="http://schemas.microsoft.com/office/drawing/2014/main" id="{362D72BD-E922-4658-9628-5DE84E067FFB}"/>
              </a:ext>
            </a:extLst>
          </p:cNvPr>
          <p:cNvSpPr>
            <a:spLocks noGrp="1"/>
          </p:cNvSpPr>
          <p:nvPr/>
        </p:nvSpPr>
        <p:spPr>
          <a:xfrm>
            <a:off x="419100" y="442912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Signed MSY: air temperature q = 0.0025 and salinity q = 0.046.</a:t>
            </a:r>
          </a:p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Aggregate sensitivity is nominal: P = 0.023, q = 0.070.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BAFF6F95-ADD7-7C5C-A934-83E95849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51" y="1513016"/>
            <a:ext cx="8035290" cy="28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68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-1199">
            <a:extLst>
              <a:ext uri="{FF2B5EF4-FFF2-40B4-BE49-F238E27FC236}">
                <a16:creationId xmlns:a16="http://schemas.microsoft.com/office/drawing/2014/main" id="{9BFA0183-094F-427F-8B8E-506703215F0A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Expected impact and response signs vary by region</a:t>
            </a:r>
          </a:p>
        </p:txBody>
      </p:sp>
      <p:sp>
        <p:nvSpPr>
          <p:cNvPr id="2" name="text-1200">
            <a:extLst>
              <a:ext uri="{FF2B5EF4-FFF2-40B4-BE49-F238E27FC236}">
                <a16:creationId xmlns:a16="http://schemas.microsoft.com/office/drawing/2014/main" id="{EDA1265D-F3B7-46A3-9463-F86DA6121DAF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671" y="933450"/>
            <a:ext cx="7652657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4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201">
            <a:extLst>
              <a:ext uri="{FF2B5EF4-FFF2-40B4-BE49-F238E27FC236}">
                <a16:creationId xmlns:a16="http://schemas.microsoft.com/office/drawing/2014/main" id="{7325F8E0-EED4-49B9-92D2-80B9897EEF75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Direction tests address different questions</a:t>
            </a:r>
          </a:p>
        </p:txBody>
      </p:sp>
      <p:sp>
        <p:nvSpPr>
          <p:cNvPr id="2" name="text-1202">
            <a:extLst>
              <a:ext uri="{FF2B5EF4-FFF2-40B4-BE49-F238E27FC236}">
                <a16:creationId xmlns:a16="http://schemas.microsoft.com/office/drawing/2014/main" id="{0053388C-6D77-4CB3-97CB-2C2EA65608AC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419100" y="1314450"/>
          <a:ext cx="8305800" cy="26479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MSY change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Sign categories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Fisher test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0.547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0.556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Continuous response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Spearman correlation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 = −0.032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0.811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 = −0.318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0.013, q = 0.026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Continuous response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Region fixed effects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β = −0.0075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0.625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β = −2.507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 = 0.032, q = 0.063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-1203">
            <a:extLst>
              <a:ext uri="{FF2B5EF4-FFF2-40B4-BE49-F238E27FC236}">
                <a16:creationId xmlns:a16="http://schemas.microsoft.com/office/drawing/2014/main" id="{CA8C15DB-A9EC-42E9-830F-8F1DEF93BEF3}"/>
              </a:ext>
            </a:extLst>
          </p:cNvPr>
          <p:cNvSpPr>
            <a:spLocks noGrp="1"/>
          </p:cNvSpPr>
          <p:nvPr/>
        </p:nvSpPr>
        <p:spPr>
          <a:xfrm>
            <a:off x="419100" y="4371975"/>
            <a:ext cx="8305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adjusted MSY inverse association remains nominal after BH correction.</a:t>
            </a:r>
          </a:p>
        </p:txBody>
      </p:sp>
    </p:spTree>
    <p:extLst>
      <p:ext uri="{BB962C8B-B14F-4D97-AF65-F5344CB8AC3E}">
        <p14:creationId xmlns:p14="http://schemas.microsoft.com/office/powerpoint/2010/main" val="85508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208">
            <a:extLst>
              <a:ext uri="{FF2B5EF4-FFF2-40B4-BE49-F238E27FC236}">
                <a16:creationId xmlns:a16="http://schemas.microsoft.com/office/drawing/2014/main" id="{A5D56C40-886E-4992-B433-FA459F0A209F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Main validation findings</a:t>
            </a:r>
          </a:p>
        </p:txBody>
      </p:sp>
      <p:sp>
        <p:nvSpPr>
          <p:cNvPr id="2" name="text-1209">
            <a:extLst>
              <a:ext uri="{FF2B5EF4-FFF2-40B4-BE49-F238E27FC236}">
                <a16:creationId xmlns:a16="http://schemas.microsoft.com/office/drawing/2014/main" id="{D6E3FF07-712B-4336-9CF1-3FB74380B7D3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altLang="zh-CN"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  <a:endParaRPr sz="1200" b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210">
            <a:extLst>
              <a:ext uri="{FF2B5EF4-FFF2-40B4-BE49-F238E27FC236}">
                <a16:creationId xmlns:a16="http://schemas.microsoft.com/office/drawing/2014/main" id="{4AEB64CB-D4D4-492C-A9F3-90DC100C79CB}"/>
              </a:ext>
            </a:extLst>
          </p:cNvPr>
          <p:cNvSpPr>
            <a:spLocks noGrp="1"/>
          </p:cNvSpPr>
          <p:nvPr/>
        </p:nvSpPr>
        <p:spPr>
          <a:xfrm>
            <a:off x="419100" y="1200150"/>
            <a:ext cx="8305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Aggregate classifications</a:t>
            </a:r>
          </a:p>
        </p:txBody>
      </p:sp>
      <p:sp>
        <p:nvSpPr>
          <p:cNvPr id="4" name="text-1211">
            <a:extLst>
              <a:ext uri="{FF2B5EF4-FFF2-40B4-BE49-F238E27FC236}">
                <a16:creationId xmlns:a16="http://schemas.microsoft.com/office/drawing/2014/main" id="{47B4B34D-8407-4E93-8319-069368938C2D}"/>
              </a:ext>
            </a:extLst>
          </p:cNvPr>
          <p:cNvSpPr>
            <a:spLocks noGrp="1"/>
          </p:cNvSpPr>
          <p:nvPr/>
        </p:nvSpPr>
        <p:spPr>
          <a:xfrm>
            <a:off x="419100" y="1638300"/>
            <a:ext cx="8305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Limited correspondence with redistribution, absolute </a:t>
            </a:r>
            <a:r>
              <a:rPr sz="1800" b="0" i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θ</a:t>
            </a:r>
          </a:p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and absolute MSY change in the matched datasets.</a:t>
            </a:r>
          </a:p>
        </p:txBody>
      </p:sp>
      <p:sp>
        <p:nvSpPr>
          <p:cNvPr id="5" name="text-1212">
            <a:extLst>
              <a:ext uri="{FF2B5EF4-FFF2-40B4-BE49-F238E27FC236}">
                <a16:creationId xmlns:a16="http://schemas.microsoft.com/office/drawing/2014/main" id="{2B6E36E2-5C76-446F-ADB4-92FEBF2C63FC}"/>
              </a:ext>
            </a:extLst>
          </p:cNvPr>
          <p:cNvSpPr>
            <a:spLocks noGrp="1"/>
          </p:cNvSpPr>
          <p:nvPr/>
        </p:nvSpPr>
        <p:spPr>
          <a:xfrm>
            <a:off x="419100" y="2457450"/>
            <a:ext cx="8305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Exposure factors</a:t>
            </a:r>
          </a:p>
        </p:txBody>
      </p:sp>
      <p:sp>
        <p:nvSpPr>
          <p:cNvPr id="6" name="text-1213">
            <a:extLst>
              <a:ext uri="{FF2B5EF4-FFF2-40B4-BE49-F238E27FC236}">
                <a16:creationId xmlns:a16="http://schemas.microsoft.com/office/drawing/2014/main" id="{A356DFE6-2F55-4045-89E3-71D1DFB79750}"/>
              </a:ext>
            </a:extLst>
          </p:cNvPr>
          <p:cNvSpPr>
            <a:spLocks noGrp="1"/>
          </p:cNvSpPr>
          <p:nvPr/>
        </p:nvSpPr>
        <p:spPr>
          <a:xfrm>
            <a:off x="419100" y="2886075"/>
            <a:ext cx="8305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Several associations survive FDR correction, with different</a:t>
            </a:r>
          </a:p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patterns across historical shifts, habitat change and MSY.</a:t>
            </a:r>
          </a:p>
        </p:txBody>
      </p:sp>
      <p:sp>
        <p:nvSpPr>
          <p:cNvPr id="7" name="text-1214">
            <a:extLst>
              <a:ext uri="{FF2B5EF4-FFF2-40B4-BE49-F238E27FC236}">
                <a16:creationId xmlns:a16="http://schemas.microsoft.com/office/drawing/2014/main" id="{11A0FF2F-ED40-4887-8F81-424F63DC6D96}"/>
              </a:ext>
            </a:extLst>
          </p:cNvPr>
          <p:cNvSpPr>
            <a:spLocks noGrp="1"/>
          </p:cNvSpPr>
          <p:nvPr/>
        </p:nvSpPr>
        <p:spPr>
          <a:xfrm>
            <a:off x="419100" y="3714750"/>
            <a:ext cx="8305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Direction of impact</a:t>
            </a:r>
          </a:p>
        </p:txBody>
      </p:sp>
      <p:sp>
        <p:nvSpPr>
          <p:cNvPr id="8" name="text-1215">
            <a:extLst>
              <a:ext uri="{FF2B5EF4-FFF2-40B4-BE49-F238E27FC236}">
                <a16:creationId xmlns:a16="http://schemas.microsoft.com/office/drawing/2014/main" id="{F6DBDA87-1BE3-4304-9429-78A557CD57A1}"/>
              </a:ext>
            </a:extLst>
          </p:cNvPr>
          <p:cNvSpPr>
            <a:spLocks noGrp="1"/>
          </p:cNvSpPr>
          <p:nvPr/>
        </p:nvSpPr>
        <p:spPr>
          <a:xfrm>
            <a:off x="419100" y="4133850"/>
            <a:ext cx="8305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Low descriptive agreement. The adjusted inverse MSY</a:t>
            </a:r>
          </a:p>
          <a:p>
            <a:pPr algn="l"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association remains nominal after multiple testing.</a:t>
            </a:r>
          </a:p>
        </p:txBody>
      </p:sp>
    </p:spTree>
    <p:extLst>
      <p:ext uri="{BB962C8B-B14F-4D97-AF65-F5344CB8AC3E}">
        <p14:creationId xmlns:p14="http://schemas.microsoft.com/office/powerpoint/2010/main" val="791498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216">
            <a:extLst>
              <a:ext uri="{FF2B5EF4-FFF2-40B4-BE49-F238E27FC236}">
                <a16:creationId xmlns:a16="http://schemas.microsoft.com/office/drawing/2014/main" id="{1B81D20B-066F-4EA2-A08C-8F8502DAEC90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2" name="text-1217">
            <a:extLst>
              <a:ext uri="{FF2B5EF4-FFF2-40B4-BE49-F238E27FC236}">
                <a16:creationId xmlns:a16="http://schemas.microsoft.com/office/drawing/2014/main" id="{12B47BD9-3925-4CF9-A988-BBFA47BFC86A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>
                <a:solidFill>
                  <a:srgbClr val="555555"/>
                </a:solidFill>
                <a:latin typeface="Arial"/>
                <a:ea typeface="Arial"/>
                <a:cs typeface="Arial"/>
              </a:rPr>
              <a:t>19</a:t>
            </a:r>
            <a:endParaRPr sz="1200" b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218">
            <a:extLst>
              <a:ext uri="{FF2B5EF4-FFF2-40B4-BE49-F238E27FC236}">
                <a16:creationId xmlns:a16="http://schemas.microsoft.com/office/drawing/2014/main" id="{65488BF5-9BEE-4800-B052-4094C5143D7A}"/>
              </a:ext>
            </a:extLst>
          </p:cNvPr>
          <p:cNvSpPr>
            <a:spLocks noGrp="1"/>
          </p:cNvSpPr>
          <p:nvPr/>
        </p:nvSpPr>
        <p:spPr>
          <a:xfrm>
            <a:off x="419100" y="1181100"/>
            <a:ext cx="8305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Future MSY results</a:t>
            </a:r>
          </a:p>
        </p:txBody>
      </p:sp>
      <p:sp>
        <p:nvSpPr>
          <p:cNvPr id="4" name="text-1219">
            <a:extLst>
              <a:ext uri="{FF2B5EF4-FFF2-40B4-BE49-F238E27FC236}">
                <a16:creationId xmlns:a16="http://schemas.microsoft.com/office/drawing/2014/main" id="{1ADB162C-721D-4097-A8FD-F5201A76AE1D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305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Confirm delivery and integration of the 2026 to 2055 projections.</a:t>
            </a:r>
          </a:p>
          <a:p>
            <a:pPr algn="l"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Decide how to position the current historical comparison.</a:t>
            </a:r>
          </a:p>
        </p:txBody>
      </p:sp>
      <p:sp>
        <p:nvSpPr>
          <p:cNvPr id="5" name="text-1220">
            <a:extLst>
              <a:ext uri="{FF2B5EF4-FFF2-40B4-BE49-F238E27FC236}">
                <a16:creationId xmlns:a16="http://schemas.microsoft.com/office/drawing/2014/main" id="{B9E36D10-93C4-4CB1-A281-03F941D69AB1}"/>
              </a:ext>
            </a:extLst>
          </p:cNvPr>
          <p:cNvSpPr>
            <a:spLocks noGrp="1"/>
          </p:cNvSpPr>
          <p:nvPr/>
        </p:nvSpPr>
        <p:spPr>
          <a:xfrm>
            <a:off x="419100" y="2438400"/>
            <a:ext cx="8305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Main text and supplementary evidence</a:t>
            </a:r>
          </a:p>
        </p:txBody>
      </p:sp>
      <p:sp>
        <p:nvSpPr>
          <p:cNvPr id="6" name="text-1221">
            <a:extLst>
              <a:ext uri="{FF2B5EF4-FFF2-40B4-BE49-F238E27FC236}">
                <a16:creationId xmlns:a16="http://schemas.microsoft.com/office/drawing/2014/main" id="{284F2CEC-D11E-48D5-8E78-9C67B2B84F05}"/>
              </a:ext>
            </a:extLst>
          </p:cNvPr>
          <p:cNvSpPr>
            <a:spLocks noGrp="1"/>
          </p:cNvSpPr>
          <p:nvPr/>
        </p:nvSpPr>
        <p:spPr>
          <a:xfrm>
            <a:off x="419100" y="2757488"/>
            <a:ext cx="8305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Confirm placement of thermal habitat validation and signed responses.</a:t>
            </a:r>
          </a:p>
        </p:txBody>
      </p:sp>
    </p:spTree>
    <p:extLst>
      <p:ext uri="{BB962C8B-B14F-4D97-AF65-F5344CB8AC3E}">
        <p14:creationId xmlns:p14="http://schemas.microsoft.com/office/powerpoint/2010/main" val="1961999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224">
            <a:extLst>
              <a:ext uri="{FF2B5EF4-FFF2-40B4-BE49-F238E27FC236}">
                <a16:creationId xmlns:a16="http://schemas.microsoft.com/office/drawing/2014/main" id="{A9402A3D-B688-4A32-A32B-DD2E47CF0891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Regional correlations: redistribution</a:t>
            </a:r>
          </a:p>
        </p:txBody>
      </p:sp>
      <p:sp>
        <p:nvSpPr>
          <p:cNvPr id="2" name="text-1225">
            <a:extLst>
              <a:ext uri="{FF2B5EF4-FFF2-40B4-BE49-F238E27FC236}">
                <a16:creationId xmlns:a16="http://schemas.microsoft.com/office/drawing/2014/main" id="{55788A4E-2A96-407F-AABA-A43A35FC89A3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altLang="zh-CN"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</a:t>
            </a:r>
            <a:endParaRPr sz="1200" b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226">
            <a:extLst>
              <a:ext uri="{FF2B5EF4-FFF2-40B4-BE49-F238E27FC236}">
                <a16:creationId xmlns:a16="http://schemas.microsoft.com/office/drawing/2014/main" id="{E0C77926-6DBB-4617-BF6E-6BA14888F161}"/>
              </a:ext>
            </a:extLst>
          </p:cNvPr>
          <p:cNvSpPr>
            <a:spLocks noGrp="1"/>
          </p:cNvSpPr>
          <p:nvPr/>
        </p:nvSpPr>
        <p:spPr>
          <a:xfrm>
            <a:off x="419100" y="48482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19100" y="1304925"/>
          <a:ext cx="8305800" cy="279654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Historical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n / levels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Projected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n / levels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Centroid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Bering Sea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31 / 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0.370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12 / 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−0.221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0.489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Gulf of Mexico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12 / 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0.480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31 / 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0.341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0.061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Northeast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63 /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−0.025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0.847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20 /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−0.345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0.136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Southeast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37 / 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0.187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0.267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33 / 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0.528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West Coast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51 /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−0.023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0.873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14 / 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0.541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0.046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227">
            <a:extLst>
              <a:ext uri="{FF2B5EF4-FFF2-40B4-BE49-F238E27FC236}">
                <a16:creationId xmlns:a16="http://schemas.microsoft.com/office/drawing/2014/main" id="{B355D4DA-D455-420F-BCC4-C374D063ACF4}"/>
              </a:ext>
            </a:extLst>
          </p:cNvPr>
          <p:cNvSpPr>
            <a:spLocks noGrp="1"/>
          </p:cNvSpPr>
          <p:nvPr/>
        </p:nvSpPr>
        <p:spPr>
          <a:xfrm>
            <a:off x="419100" y="4276725"/>
            <a:ext cx="83058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Predictor: Potential for distribution change</a:t>
            </a:r>
          </a:p>
          <a:p>
            <a:pPr algn="l"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Within-region Spearman tests shown with unadjusted P values.</a:t>
            </a:r>
          </a:p>
        </p:txBody>
      </p:sp>
    </p:spTree>
    <p:extLst>
      <p:ext uri="{BB962C8B-B14F-4D97-AF65-F5344CB8AC3E}">
        <p14:creationId xmlns:p14="http://schemas.microsoft.com/office/powerpoint/2010/main" val="98773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228">
            <a:extLst>
              <a:ext uri="{FF2B5EF4-FFF2-40B4-BE49-F238E27FC236}">
                <a16:creationId xmlns:a16="http://schemas.microsoft.com/office/drawing/2014/main" id="{8CFF8CF5-A7E7-4E98-8CC8-59B0D69E8045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Regional correlations: absolute productivity</a:t>
            </a:r>
          </a:p>
        </p:txBody>
      </p:sp>
      <p:sp>
        <p:nvSpPr>
          <p:cNvPr id="2" name="text-1229">
            <a:extLst>
              <a:ext uri="{FF2B5EF4-FFF2-40B4-BE49-F238E27FC236}">
                <a16:creationId xmlns:a16="http://schemas.microsoft.com/office/drawing/2014/main" id="{878B32AA-E795-4A0B-BC0B-DF35CF3EFBC1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altLang="zh-CN"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</a:t>
            </a:r>
            <a:endParaRPr sz="1200" b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230">
            <a:extLst>
              <a:ext uri="{FF2B5EF4-FFF2-40B4-BE49-F238E27FC236}">
                <a16:creationId xmlns:a16="http://schemas.microsoft.com/office/drawing/2014/main" id="{FCDCC1E6-C009-4C45-86FA-97050E9A7CB3}"/>
              </a:ext>
            </a:extLst>
          </p:cNvPr>
          <p:cNvSpPr>
            <a:spLocks noGrp="1"/>
          </p:cNvSpPr>
          <p:nvPr/>
        </p:nvSpPr>
        <p:spPr>
          <a:xfrm>
            <a:off x="419100" y="48482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19100" y="1104900"/>
          <a:ext cx="8305800" cy="28479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levels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|</a:t>
                      </a:r>
                      <a:r>
                        <a:rPr sz="1350" b="1" i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|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Vulnerability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levels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|MSY|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Bering Sea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−0.430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0.142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0.171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0.576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Gulf of Mexico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0.866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0.333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0.667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Northeast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0.342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0.212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0.276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0.319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Southeast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−0.076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0.846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−0.080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 West Coast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−0.124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0.582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−0.320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0.147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231">
            <a:extLst>
              <a:ext uri="{FF2B5EF4-FFF2-40B4-BE49-F238E27FC236}">
                <a16:creationId xmlns:a16="http://schemas.microsoft.com/office/drawing/2014/main" id="{80D23ADE-F0F1-4F6A-89CA-B4464F6D7B08}"/>
              </a:ext>
            </a:extLst>
          </p:cNvPr>
          <p:cNvSpPr>
            <a:spLocks noGrp="1"/>
          </p:cNvSpPr>
          <p:nvPr/>
        </p:nvSpPr>
        <p:spPr>
          <a:xfrm>
            <a:off x="419100" y="4276725"/>
            <a:ext cx="83058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Sensitivity versus absolute </a:t>
            </a:r>
            <a:r>
              <a:rPr sz="1500" b="0" i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θ</a:t>
            </a: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and vulnerability versus absolute MSY change.</a:t>
            </a:r>
          </a:p>
          <a:p>
            <a:pPr algn="l"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 within-region test meets P &lt; 0.05. Gulf of Mexico n = 3.</a:t>
            </a:r>
          </a:p>
        </p:txBody>
      </p:sp>
    </p:spTree>
    <p:extLst>
      <p:ext uri="{BB962C8B-B14F-4D97-AF65-F5344CB8AC3E}">
        <p14:creationId xmlns:p14="http://schemas.microsoft.com/office/powerpoint/2010/main" val="24094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232">
            <a:extLst>
              <a:ext uri="{FF2B5EF4-FFF2-40B4-BE49-F238E27FC236}">
                <a16:creationId xmlns:a16="http://schemas.microsoft.com/office/drawing/2014/main" id="{D5886176-626A-407C-90B7-3D198FEB9398}"/>
              </a:ext>
            </a:extLst>
          </p:cNvPr>
          <p:cNvSpPr>
            <a:spLocks noGrp="1"/>
          </p:cNvSpPr>
          <p:nvPr/>
        </p:nvSpPr>
        <p:spPr>
          <a:xfrm>
            <a:off x="419100" y="257175"/>
            <a:ext cx="8305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Key fixed-effects estimates</a:t>
            </a:r>
          </a:p>
        </p:txBody>
      </p:sp>
      <p:sp>
        <p:nvSpPr>
          <p:cNvPr id="2" name="text-1233">
            <a:extLst>
              <a:ext uri="{FF2B5EF4-FFF2-40B4-BE49-F238E27FC236}">
                <a16:creationId xmlns:a16="http://schemas.microsoft.com/office/drawing/2014/main" id="{D1316DFA-3849-4758-86E4-5F70C1B64D28}"/>
              </a:ext>
            </a:extLst>
          </p:cNvPr>
          <p:cNvSpPr>
            <a:spLocks noGrp="1"/>
          </p:cNvSpPr>
          <p:nvPr/>
        </p:nvSpPr>
        <p:spPr>
          <a:xfrm>
            <a:off x="8534400" y="484822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altLang="zh-CN"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  <a:endParaRPr sz="1200" b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234">
            <a:extLst>
              <a:ext uri="{FF2B5EF4-FFF2-40B4-BE49-F238E27FC236}">
                <a16:creationId xmlns:a16="http://schemas.microsoft.com/office/drawing/2014/main" id="{072B3580-5BDC-439B-ABDC-B67BF4AB4014}"/>
              </a:ext>
            </a:extLst>
          </p:cNvPr>
          <p:cNvSpPr>
            <a:spLocks noGrp="1"/>
          </p:cNvSpPr>
          <p:nvPr/>
        </p:nvSpPr>
        <p:spPr>
          <a:xfrm>
            <a:off x="419100" y="48482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19100" y="1162050"/>
          <a:ext cx="8305800" cy="322897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Response and predictor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76200" marR="76200" marT="38100" marB="3810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Latitude: exposure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0.721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[0.278, 1.163]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Latitude: salinity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0.789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[0.316, 1.262]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Latitude: air temperature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0.269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[0.069, 0.468]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0.030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Latitude: precipitation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0.244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[0.033, 0.456]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0.056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Abs. habitat: currents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0.804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[0.436, 1.172]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0.000047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0.00033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Abs. habitat: SST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0.412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[0.108, 0.715]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Abs. MSY: air temperature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−3.004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[−4.645, −1.363]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0.00062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0.004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Signed MSY: salinity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−6.198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[−11.038, −1.357]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0.046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-1235">
            <a:extLst>
              <a:ext uri="{FF2B5EF4-FFF2-40B4-BE49-F238E27FC236}">
                <a16:creationId xmlns:a16="http://schemas.microsoft.com/office/drawing/2014/main" id="{D3EDA514-60DC-48BA-9854-5AEB6B79C1F2}"/>
              </a:ext>
            </a:extLst>
          </p:cNvPr>
          <p:cNvSpPr>
            <a:spLocks noGrp="1"/>
          </p:cNvSpPr>
          <p:nvPr/>
        </p:nvSpPr>
        <p:spPr>
          <a:xfrm>
            <a:off x="419100" y="4467225"/>
            <a:ext cx="83058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One predictor SD. Response units differ across endpoints.</a:t>
            </a:r>
          </a:p>
        </p:txBody>
      </p:sp>
    </p:spTree>
    <p:extLst>
      <p:ext uri="{BB962C8B-B14F-4D97-AF65-F5344CB8AC3E}">
        <p14:creationId xmlns:p14="http://schemas.microsoft.com/office/powerpoint/2010/main" val="903234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1875</Words>
  <Application>Microsoft Macintosh PowerPoint</Application>
  <DocSecurity>0</DocSecurity>
  <PresentationFormat>全屏显示(16:9)</PresentationFormat>
  <Paragraphs>387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 Unicode MS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t89362</cp:lastModifiedBy>
  <cp:revision>1</cp:revision>
  <dcterms:created xsi:type="dcterms:W3CDTF">2026-09-11T19:00:45Z</dcterms:created>
  <dcterms:modified xsi:type="dcterms:W3CDTF">2026-09-13T20:25:53Z</dcterms:modified>
</cp:coreProperties>
</file>